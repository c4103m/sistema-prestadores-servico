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A48363-D605-4EF1-8FA6-66FE25C018BB}">
  <a:tblStyle styleId="{DFA48363-D605-4EF1-8FA6-66FE25C018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background 1">
  <p:cSld name="Slide background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812800" y="1767840"/>
            <a:ext cx="10883392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PROJETO ACADÊMICO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812800" y="2255520"/>
            <a:ext cx="6802120" cy="194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Agendamento para prestadores de serviço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812800" y="4378960"/>
            <a:ext cx="6802120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9D3DC"/>
                </a:solidFill>
                <a:latin typeface="Arial"/>
                <a:ea typeface="Arial"/>
                <a:cs typeface="Arial"/>
                <a:sym typeface="Arial"/>
              </a:rPr>
              <a:t>Clientes encontram profissionais e marcam horário em poucos toques.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8559800" y="1714500"/>
            <a:ext cx="1333500" cy="1333500"/>
          </a:xfrm>
          <a:prstGeom prst="roundRect">
            <a:avLst>
              <a:gd fmla="val 15238" name="adj"/>
            </a:avLst>
          </a:prstGeom>
          <a:solidFill>
            <a:srgbClr val="0F9D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s"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6350" y="2051050"/>
            <a:ext cx="6604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10045700" y="1714500"/>
            <a:ext cx="1333500" cy="1333500"/>
          </a:xfrm>
          <a:prstGeom prst="roundRect">
            <a:avLst>
              <a:gd fmla="val 15238" name="adj"/>
            </a:avLst>
          </a:prstGeom>
          <a:solidFill>
            <a:srgbClr val="E880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2250" y="2051050"/>
            <a:ext cx="6604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8566150" y="3206750"/>
            <a:ext cx="1320800" cy="1320800"/>
          </a:xfrm>
          <a:prstGeom prst="roundRect">
            <a:avLst>
              <a:gd fmla="val 14904" name="adj"/>
            </a:avLst>
          </a:prstGeom>
          <a:solidFill>
            <a:srgbClr val="1E3A54"/>
          </a:solidFill>
          <a:ln cap="flat" cmpd="sng" w="12700">
            <a:solidFill>
              <a:srgbClr val="2F55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" id="25" name="Google Shape;2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96350" y="3536950"/>
            <a:ext cx="6604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10045700" y="3200400"/>
            <a:ext cx="1333500" cy="1333500"/>
          </a:xfrm>
          <a:prstGeom prst="roundRect">
            <a:avLst>
              <a:gd fmla="val 15238" name="adj"/>
            </a:avLst>
          </a:prstGeom>
          <a:solidFill>
            <a:srgbClr val="F6F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" id="27" name="Google Shape;2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2250" y="3536950"/>
            <a:ext cx="660400" cy="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t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Problema e solução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15975" y="2356485"/>
            <a:ext cx="5175250" cy="2146300"/>
          </a:xfrm>
          <a:prstGeom prst="roundRect">
            <a:avLst>
              <a:gd fmla="val 4586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" id="37" name="Google Shape;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680" y="266319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1529080" y="2663190"/>
            <a:ext cx="138903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601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4601C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122680" y="3094990"/>
            <a:ext cx="469869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Clientes não sabem quais horários estão livres e dependem de mensagens e ligações. Profissionais perdem tempo organizando a agenda e sofrem com conflitos de horário.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200775" y="2355850"/>
            <a:ext cx="5175250" cy="2146300"/>
          </a:xfrm>
          <a:prstGeom prst="roundRect">
            <a:avLst>
              <a:gd fmla="val 4586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ightbulb" id="41" name="Google Shape;4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7480" y="266255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6913880" y="2662555"/>
            <a:ext cx="1185577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7A6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7A6B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507480" y="3094355"/>
            <a:ext cx="469869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Um app em que o cliente pesquisa um serviço ou profissional e agenda sozinho em um horário realmente disponível, enquanto o profissional controla a própria agenda.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E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s"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Dois perfis de usuário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815975" y="2336166"/>
            <a:ext cx="5175250" cy="2184400"/>
          </a:xfrm>
          <a:prstGeom prst="roundRect">
            <a:avLst>
              <a:gd fmla="val 4506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sers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680" y="264287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1529080" y="2642870"/>
            <a:ext cx="1016222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601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4601C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199388" y="3074670"/>
            <a:ext cx="4614367" cy="87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Cadastra-se e faz login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Pesquisa serviço ou profissional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Agenda em horário livre, acompanha e cancela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200775" y="2336800"/>
            <a:ext cx="5175250" cy="2184400"/>
          </a:xfrm>
          <a:prstGeom prst="roundRect">
            <a:avLst>
              <a:gd fmla="val 4506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rified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7480" y="264350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6913880" y="2643505"/>
            <a:ext cx="1744599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7A6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B7A6B"/>
                </a:solidFill>
                <a:latin typeface="Arial"/>
                <a:ea typeface="Arial"/>
                <a:cs typeface="Arial"/>
                <a:sym typeface="Arial"/>
              </a:rPr>
              <a:t>Profissional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584188" y="3075305"/>
            <a:ext cx="4614367" cy="116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Cadastra serviços com duração e preço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Define a disponibilidade semanal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Gerencia a agenda, conclui atendimentos e vê o dashboard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63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ctivity"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Fluxo do usuário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sers"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154305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1193800" y="1568450"/>
            <a:ext cx="10490962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812800" y="2095500"/>
            <a:ext cx="1747520" cy="768350"/>
          </a:xfrm>
          <a:prstGeom prst="roundRect">
            <a:avLst>
              <a:gd fmla="val 13223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ctr" bIns="122625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Cadastro e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2661920" y="2301875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017520" y="2095500"/>
            <a:ext cx="1747520" cy="768350"/>
          </a:xfrm>
          <a:prstGeom prst="roundRect">
            <a:avLst>
              <a:gd fmla="val 13223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985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Pesquisa serviço ou profissional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866640" y="2301875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222240" y="2095500"/>
            <a:ext cx="1747520" cy="768350"/>
          </a:xfrm>
          <a:prstGeom prst="roundRect">
            <a:avLst>
              <a:gd fmla="val 13223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985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Escolhe um horário livre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071360" y="2301875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426960" y="2095500"/>
            <a:ext cx="1747520" cy="768350"/>
          </a:xfrm>
          <a:prstGeom prst="roundRect">
            <a:avLst>
              <a:gd fmla="val 13223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985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Confirma o agendamento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276080" y="2301875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631680" y="2095500"/>
            <a:ext cx="1747520" cy="768350"/>
          </a:xfrm>
          <a:prstGeom prst="roundRect">
            <a:avLst>
              <a:gd fmla="val 13223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985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Acompanha ou cancela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rified" id="79" name="Google Shape;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0" y="309245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1193800" y="3117850"/>
            <a:ext cx="10490962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FD0C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D0C0"/>
                </a:solidFill>
                <a:latin typeface="Arial"/>
                <a:ea typeface="Arial"/>
                <a:cs typeface="Arial"/>
                <a:sym typeface="Arial"/>
              </a:rPr>
              <a:t>Profissional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812800" y="3644900"/>
            <a:ext cx="1747520" cy="1003300"/>
          </a:xfrm>
          <a:prstGeom prst="roundRect">
            <a:avLst>
              <a:gd fmla="val 10127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ctr" bIns="122625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Cadastro e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661920" y="3968750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017520" y="3644900"/>
            <a:ext cx="1747520" cy="1003300"/>
          </a:xfrm>
          <a:prstGeom prst="roundRect">
            <a:avLst>
              <a:gd fmla="val 10127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ctr" bIns="122625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Cria serviços com duração e preço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866640" y="3968750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222240" y="3644900"/>
            <a:ext cx="1747520" cy="1003300"/>
          </a:xfrm>
          <a:prstGeom prst="roundRect">
            <a:avLst>
              <a:gd fmla="val 10127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1023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Define a disponibilidade semanal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7071360" y="3968750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426960" y="3644900"/>
            <a:ext cx="1747520" cy="1003300"/>
          </a:xfrm>
          <a:prstGeom prst="roundRect">
            <a:avLst>
              <a:gd fmla="val 10127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t" bIns="102300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Recebe agendamentos na agenda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9276080" y="3968750"/>
            <a:ext cx="30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803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E8803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9631680" y="3644900"/>
            <a:ext cx="1747520" cy="1003300"/>
          </a:xfrm>
          <a:prstGeom prst="roundRect">
            <a:avLst>
              <a:gd fmla="val 10127" name="adj"/>
            </a:avLst>
          </a:prstGeom>
          <a:solidFill>
            <a:srgbClr val="1E3A54"/>
          </a:solidFill>
          <a:ln>
            <a:noFill/>
          </a:ln>
        </p:spPr>
        <p:txBody>
          <a:bodyPr anchorCtr="0" anchor="ctr" bIns="122625" lIns="122625" spcFirstLastPara="1" rIns="71825" wrap="square" tIns="1226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6F3E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6F3EE"/>
                </a:solidFill>
                <a:latin typeface="Arial"/>
                <a:ea typeface="Arial"/>
                <a:cs typeface="Arial"/>
                <a:sym typeface="Arial"/>
              </a:rPr>
              <a:t>Conclui, registra falta e vê métricas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12800" y="490220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D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9D3DC"/>
                </a:solidFill>
                <a:latin typeface="Arial"/>
                <a:ea typeface="Arial"/>
                <a:cs typeface="Arial"/>
                <a:sym typeface="Arial"/>
              </a:rPr>
              <a:t>O agendamento confirmado pelo cliente aparece na agenda do profissional.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art"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Sistemas similares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9" name="Google Shape;99;p8"/>
          <p:cNvGraphicFramePr/>
          <p:nvPr/>
        </p:nvGraphicFramePr>
        <p:xfrm>
          <a:off x="822960" y="1934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{DFA48363-D605-4EF1-8FA6-66FE25C018BB}</a:tableStyleId>
              </a:tblPr>
              <a:tblGrid>
                <a:gridCol w="3518750"/>
                <a:gridCol w="3518750"/>
                <a:gridCol w="3518750"/>
              </a:tblGrid>
              <a:tr h="42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E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6F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Sistema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E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6F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Proposta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3EE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6F3E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que aproveitamos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63A"/>
                    </a:solidFill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Booksy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Marketplace de beleza e bem-estar, com app para o cliente reservar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Descoberta e reserva pelo cliente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2223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Trinks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Gestão e agenda online para salões, barbearias e clínicas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Agenda do profissional e métricas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Fresha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Agenda e gestão para beleza e bem-estar, com marketplace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Reserva online ligada à agenda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4"/>
                    </a:solidFill>
                  </a:tcPr>
                </a:tc>
              </a:tr>
              <a:tr h="64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Calendly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C4C2B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Agendamento por link, a partir da disponibilidade de cada pessoa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263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1226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Cálculo de horários livres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1600" marB="101600" marR="101600" marL="101600">
                    <a:lnL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7C6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B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6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heckCircle" id="106" name="Google Shape;1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Modelo de casos de uso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300" y="1702225"/>
            <a:ext cx="10883399" cy="499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F9D8A"/>
              </a:gs>
              <a:gs pos="100000">
                <a:srgbClr val="E8803A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"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0" y="838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/>
          <p:nvPr/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Tecnologias e ferramentas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815975" y="1623696"/>
            <a:ext cx="4507627" cy="3059430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springboot" id="118" name="Google Shape;1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680" y="19304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1884680" y="2067561"/>
            <a:ext cx="19182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7A6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B7A6B"/>
                </a:solidFill>
                <a:latin typeface="Arial"/>
                <a:ea typeface="Arial"/>
                <a:cs typeface="Arial"/>
                <a:sym typeface="Arial"/>
              </a:rPr>
              <a:t>Spring Boot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122680" y="2667000"/>
            <a:ext cx="40110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1206500" y="3042921"/>
            <a:ext cx="3919603" cy="13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API REST em Java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Persistência com Spring Data JPA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Autenticação de cliente e profissional com Spring Security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Regras de negócio nos services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5882561" y="2772411"/>
            <a:ext cx="426720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4601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4601C"/>
                </a:solidFill>
                <a:latin typeface="Arial"/>
                <a:ea typeface="Arial"/>
                <a:cs typeface="Arial"/>
                <a:sym typeface="Arial"/>
              </a:rPr>
              <a:t>↔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5479177" y="3321050"/>
            <a:ext cx="1385967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API REST · JSON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868319" y="1623696"/>
            <a:ext cx="4507706" cy="3059430"/>
          </a:xfrm>
          <a:prstGeom prst="roundRect">
            <a:avLst>
              <a:gd fmla="val 3217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react" id="125" name="Google Shape;12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5024" y="19304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0"/>
          <p:cNvSpPr/>
          <p:nvPr/>
        </p:nvSpPr>
        <p:spPr>
          <a:xfrm>
            <a:off x="7937024" y="2067561"/>
            <a:ext cx="913257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4601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601C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7175024" y="2667000"/>
            <a:ext cx="401112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7258844" y="3042921"/>
            <a:ext cx="3919685" cy="1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Interface web do cliente e do profissional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Telas de login, pesquisa, agendamento e agenda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180" lvl="0" marL="17018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Comunicação com a API em JSON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815975" y="4994275"/>
            <a:ext cx="2520950" cy="707390"/>
          </a:xfrm>
          <a:prstGeom prst="roundRect">
            <a:avLst>
              <a:gd fmla="val 13914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postgresql" id="130" name="Google Shape;13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0280" y="517017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0"/>
          <p:cNvSpPr/>
          <p:nvPr/>
        </p:nvSpPr>
        <p:spPr>
          <a:xfrm>
            <a:off x="1427480" y="5123179"/>
            <a:ext cx="1321118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1427480" y="5377179"/>
            <a:ext cx="1151731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Banco relacional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3495675" y="4994275"/>
            <a:ext cx="2520950" cy="707390"/>
          </a:xfrm>
          <a:prstGeom prst="roundRect">
            <a:avLst>
              <a:gd fmla="val 13914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git" id="134" name="Google Shape;13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9980" y="517017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/>
          <p:nvPr/>
        </p:nvSpPr>
        <p:spPr>
          <a:xfrm>
            <a:off x="4107180" y="5123179"/>
            <a:ext cx="123118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107180" y="5377179"/>
            <a:ext cx="1416463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Controle de versão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175375" y="4994275"/>
            <a:ext cx="2520950" cy="707390"/>
          </a:xfrm>
          <a:prstGeom prst="roundRect">
            <a:avLst>
              <a:gd fmla="val 13914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github" id="138" name="Google Shape;13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9680" y="517017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6786880" y="5123179"/>
            <a:ext cx="123102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786880" y="5377179"/>
            <a:ext cx="1416272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Repositório remoto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8855075" y="4994275"/>
            <a:ext cx="2520950" cy="707390"/>
          </a:xfrm>
          <a:prstGeom prst="roundRect">
            <a:avLst>
              <a:gd fmla="val 13914" name="adj"/>
            </a:avLst>
          </a:prstGeom>
          <a:solidFill>
            <a:srgbClr val="FFFFFF"/>
          </a:solidFill>
          <a:ln cap="flat" cmpd="sng" w="9525">
            <a:solidFill>
              <a:srgbClr val="DCD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 tailwindcss" id="142" name="Google Shape;14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09380" y="5170171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9466580" y="5123179"/>
            <a:ext cx="1431036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263A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9466580" y="5377179"/>
            <a:ext cx="1431036" cy="22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A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A5A68"/>
                </a:solidFill>
                <a:latin typeface="Arial"/>
                <a:ea typeface="Arial"/>
                <a:cs typeface="Arial"/>
                <a:sym typeface="Arial"/>
              </a:rPr>
              <a:t>Estilização utilitária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